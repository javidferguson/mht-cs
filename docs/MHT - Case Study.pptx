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PT Sans Narrow"/>
      <p:regular r:id="rId34"/>
      <p:bold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TSansNarrow-bold.fntdata"/><Relationship Id="rId12" Type="http://schemas.openxmlformats.org/officeDocument/2006/relationships/slide" Target="slides/slide7.xml"/><Relationship Id="rId34" Type="http://schemas.openxmlformats.org/officeDocument/2006/relationships/font" Target="fonts/PTSansNarrow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e8c1b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e8c1b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e8c1ba05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be8c1ba05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e8c1ba05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e8c1ba05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e8c1ba05_0_1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e8c1ba05_0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e8c1ba05_0_1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e8c1ba05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e8c1ba05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e8c1ba05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e8c1ba05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e8c1ba05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be8c1ba05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be8c1ba05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e8c1ba05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e8c1ba05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e8c1ba05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e8c1ba05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be8c1ba05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be8c1ba05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e8c1ba05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be8c1ba05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be8c1ba05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be8c1ba05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be8c1ba05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be8c1ba05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e8c1ba05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be8c1ba05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e8c1ba05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be8c1ba05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be8c1ba05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be8c1ba05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be8c1ba05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be8c1ba05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e8c1ba05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be8c1ba05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e8c1ba05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be8c1ba05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be8c1ba05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be8c1ba05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be8c1ba05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be8c1ba05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be8c1ba05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be8c1ba05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e8c1ba05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e8c1ba05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be8c1ba05_0_1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be8c1ba05_0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be8c1ba05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be8c1ba05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be8c1ba05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be8c1ba05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Bayer &amp; myHealthteam 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MHT Menopause Community Review - </a:t>
            </a:r>
            <a:r>
              <a:rPr lang="en"/>
              <a:t>Climara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 Overview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Insights and Findings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Considerations &amp; Next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 &amp;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2472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923200"/>
            <a:ext cx="8520600" cy="4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Goal</a:t>
            </a:r>
            <a:r>
              <a:rPr lang="en"/>
              <a:t>: Extract</a:t>
            </a:r>
            <a:r>
              <a:rPr lang="en"/>
              <a:t> a set of analytical data products to support Climara patient community analyses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[*.jsonl] files with ~10,000 MyHealthTeam Menopause Community Posts and Replies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~2,000 posts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~8,000 replies (*to provided parent posts)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Included data attributes: Post/Reply - body, author, unique identifier and creation date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 title="architecture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8" cy="48387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2472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923200"/>
            <a:ext cx="8520600" cy="4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Assumptions/Caveats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User-generated content (community forum posts) is assumed to be factual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“Climara patient” is defined as an author of a post or reply that makes a *self-reference to having taken Climara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* Identification of self-reference is done by LLM named-entity recognition prompt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“Sentiment” is categorized via LLM sentiment classifier prompt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Performance 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289700" y="453975"/>
            <a:ext cx="2989200" cy="4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Guided Review Questions</a:t>
            </a:r>
            <a:endParaRPr b="1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289700" y="898725"/>
            <a:ext cx="2989200" cy="379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(?)</a:t>
            </a:r>
            <a:r>
              <a:rPr lang="en" sz="1500"/>
              <a:t> Who is the Climara patient in the community?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(?)</a:t>
            </a:r>
            <a:r>
              <a:rPr lang="en" sz="1500"/>
              <a:t> How are community members feeling about Climara?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(?)</a:t>
            </a:r>
            <a:r>
              <a:rPr lang="en" sz="1500"/>
              <a:t> What other treatments are members using?</a:t>
            </a:r>
            <a:endParaRPr sz="1500"/>
          </a:p>
        </p:txBody>
      </p:sp>
      <p:pic>
        <p:nvPicPr>
          <p:cNvPr id="97" name="Google Shape;97;p18" title="measured-table.png"/>
          <p:cNvPicPr preferRelativeResize="0"/>
          <p:nvPr/>
        </p:nvPicPr>
        <p:blipFill rotWithShape="1">
          <a:blip r:embed="rId3">
            <a:alphaModFix/>
          </a:blip>
          <a:srcRect b="1895" l="0" r="0" t="1895"/>
          <a:stretch/>
        </p:blipFill>
        <p:spPr>
          <a:xfrm>
            <a:off x="3202275" y="550175"/>
            <a:ext cx="5834926" cy="413935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MHT Menopause Patient Community?</a:t>
            </a:r>
            <a:endParaRPr/>
          </a:p>
        </p:txBody>
      </p:sp>
      <p:pic>
        <p:nvPicPr>
          <p:cNvPr id="104" name="Google Shape;104;p19" title="Screenshot 2026-09-23 at 11.38.0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75" y="1635050"/>
            <a:ext cx="4548900" cy="2852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19" title="Screenshot 2026-09-23 at 11.41.4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2425" y="1292287"/>
            <a:ext cx="2754925" cy="3537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MHT Menopause Patient Community?</a:t>
            </a:r>
            <a:endParaRPr/>
          </a:p>
        </p:txBody>
      </p:sp>
      <p:pic>
        <p:nvPicPr>
          <p:cNvPr id="112" name="Google Shape;112;p20" title="mht-m-comm-t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5800"/>
            <a:ext cx="8839200" cy="295229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MHT Menopause Patient Community?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5800"/>
            <a:ext cx="8839203" cy="306254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Climara Patient Community experience?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38" y="1302600"/>
            <a:ext cx="4504401" cy="37236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438" y="1302600"/>
            <a:ext cx="4453126" cy="37236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the MHT Climara Patient Community feel about the treatment?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4125"/>
            <a:ext cx="8572500" cy="1657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the MHT Climara Patient Community feel about the treatment?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3950"/>
            <a:ext cx="4572001" cy="25632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5275" y="1643950"/>
            <a:ext cx="4498725" cy="25632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450" y="742575"/>
            <a:ext cx="5487876" cy="415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treatments do the</a:t>
            </a:r>
            <a:r>
              <a:rPr lang="en"/>
              <a:t> MHT Patient Community switch </a:t>
            </a:r>
            <a:r>
              <a:rPr i="1" lang="en"/>
              <a:t>TO</a:t>
            </a:r>
            <a:r>
              <a:rPr lang="en"/>
              <a:t> and </a:t>
            </a:r>
            <a:r>
              <a:rPr i="1" lang="en"/>
              <a:t>FROM</a:t>
            </a:r>
            <a:r>
              <a:rPr lang="en"/>
              <a:t>?</a:t>
            </a:r>
            <a:endParaRPr/>
          </a:p>
        </p:txBody>
      </p:sp>
      <p:pic>
        <p:nvPicPr>
          <p:cNvPr id="155" name="Google Shape;155;p26" title="Screenshot 2026-09-23 at 1.10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50" y="1690950"/>
            <a:ext cx="8039100" cy="247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8447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treatments do the MHT Climara Patient Community switch </a:t>
            </a:r>
            <a:r>
              <a:rPr i="1" lang="en"/>
              <a:t>TO</a:t>
            </a:r>
            <a:r>
              <a:rPr lang="en"/>
              <a:t> and </a:t>
            </a:r>
            <a:r>
              <a:rPr i="1" lang="en"/>
              <a:t>FROM</a:t>
            </a:r>
            <a:r>
              <a:rPr lang="en"/>
              <a:t>?</a:t>
            </a:r>
            <a:endParaRPr/>
          </a:p>
        </p:txBody>
      </p:sp>
      <p:pic>
        <p:nvPicPr>
          <p:cNvPr id="162" name="Google Shape;162;p27" title="switching-into-and-out-of-climara-22-e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" y="1619250"/>
            <a:ext cx="8896348" cy="336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690825"/>
            <a:ext cx="85206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treatments do the MHT Climara Patient Community switch </a:t>
            </a:r>
            <a:r>
              <a:rPr i="1" lang="en"/>
              <a:t>TO</a:t>
            </a:r>
            <a:r>
              <a:rPr lang="en"/>
              <a:t> and </a:t>
            </a:r>
            <a:r>
              <a:rPr i="1" lang="en"/>
              <a:t>FROM</a:t>
            </a:r>
            <a:r>
              <a:rPr lang="en"/>
              <a:t>?</a:t>
            </a:r>
            <a:endParaRPr/>
          </a:p>
        </p:txBody>
      </p:sp>
      <p:pic>
        <p:nvPicPr>
          <p:cNvPr id="169" name="Google Shape;169;p28" title="Screenshot 2026-09-23 at 1.30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400" y="1392125"/>
            <a:ext cx="4045200" cy="3513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does the MHT Menopause</a:t>
            </a:r>
            <a:r>
              <a:rPr lang="en"/>
              <a:t> </a:t>
            </a:r>
            <a:r>
              <a:rPr lang="en"/>
              <a:t>Patient Community switch treatments?</a:t>
            </a:r>
            <a:endParaRPr/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475" y="1333400"/>
            <a:ext cx="5311060" cy="35052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Considerations &amp; Next Steps</a:t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11700" y="1266325"/>
            <a:ext cx="8520600" cy="36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Scaling for Production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as LLM/agent-based → vLLM on cloud compute ⇒ 37 million posts for &lt; ~$5,000, ~3-8 days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human review if given more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“lexicon” configuration vs. MHT Medical Ontology Reference database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</a:t>
            </a:r>
            <a:r>
              <a:rPr lang="en"/>
              <a:t>d</a:t>
            </a:r>
            <a:r>
              <a:rPr lang="en"/>
              <a:t>omain” configuration vs. MHT internal knowledge reference(s)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Analytical Data Products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Switch Events - Refine prompt; more quality measures/tests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Enrichment - </a:t>
            </a:r>
            <a:r>
              <a:rPr lang="en"/>
              <a:t>Try to extract additional output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Efficacy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Ontology mappings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Thank you for your time! What </a:t>
            </a:r>
            <a:r>
              <a:rPr lang="en"/>
              <a:t>questions</a:t>
            </a:r>
            <a:r>
              <a:rPr lang="en"/>
              <a:t> do we have?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- Member Comments</a:t>
            </a:r>
            <a:endParaRPr/>
          </a:p>
        </p:txBody>
      </p:sp>
      <p:sp>
        <p:nvSpPr>
          <p:cNvPr id="199" name="Google Shape;199;p33"/>
          <p:cNvSpPr txBox="1"/>
          <p:nvPr/>
        </p:nvSpPr>
        <p:spPr>
          <a:xfrm>
            <a:off x="0" y="1062400"/>
            <a:ext cx="90780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 POSITIVE ===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· …I'm not going to offer anything except — yes. This is grief and it's real and it deserves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to be called what it is. I'm on the Climara patch now and it's helped the rage a bit but it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hasn't fixed the feeling of being a stranger to myself, so I know that part isn't just…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· I made exactly this transition about two years ago — Vagifem plus added Climara patch, and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then Prometrium. First month: breast tenderness yes, quite noticeable, lasted roughly six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weeks for me. Bloating was a…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· …me. Also did the iron supplementing cause any stomach issues? I'm already anxious about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adding anything new on top of the Climara. Really glad you found something that works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though, 1-2 nights vs 5-6 is massive.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 NEGATIVE ===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· temple hair loss getting worse even on the patch — anyone else?? okay so i've been on the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Climara patch for almost 8 months now and i genuinely thought it would help slow down the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hair loss at my temples but honestly?? it seems like…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· …exhausting, especially doing detailed design work through daily headaches 💛 I stopped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briefly about two years before starting my Climara patch and honestly the muscle aches were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the thing that surprised me most — I didn't even realize HRT had been helping with them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until…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· …good evidence for meibomian gland dysfunction. I'm filing this away because my allergies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have been flaring since starting the Climara patch and my eyes are part of it.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Events - Member Comments</a:t>
            </a:r>
            <a:endParaRPr/>
          </a:p>
        </p:txBody>
      </p:sp>
      <p:sp>
        <p:nvSpPr>
          <p:cNvPr id="205" name="Google Shape;205;p34"/>
          <p:cNvSpPr txBox="1"/>
          <p:nvPr/>
        </p:nvSpPr>
        <p:spPr>
          <a:xfrm>
            <a:off x="0" y="1062400"/>
            <a:ext cx="9078000" cy="3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 of 338 switch events met the selection criteria; showing 5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SELECTION CRITERIA: Must carry a first-person movement construction, both endpoints must resolve to named products, and the surrounding text must not attribute the move to someone else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vagifem  →  imvexxy 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[applicator faff]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“Switched from Vagifem to Imvexxy a while back mostly because of applicator faff tbh”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activelle  →  climara 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[reduce first-pass hepatic effects]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“switching from oral to transdermal estrogen”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estradot  →  estradiol gel generic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[thinking transdermal might be gentler]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“Switched to estrogen gel thinking transdermal might be gentler.”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prometrium  →  mirena</a:t>
            </a:r>
            <a:endParaRPr b="1"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“switching to a Mirena IUD for the progestogen component”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vagifem  →  intrarosa 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[anecdotally the urgency did settle a bit more]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“Switched to Intrarosa when my compounding clinic suggested it”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“switch event” - Reason Text Mapping</a:t>
            </a:r>
            <a:endParaRPr/>
          </a:p>
        </p:txBody>
      </p:sp>
      <p:sp>
        <p:nvSpPr>
          <p:cNvPr id="211" name="Google Shape;211;p35"/>
          <p:cNvSpPr txBox="1"/>
          <p:nvPr/>
        </p:nvSpPr>
        <p:spPr>
          <a:xfrm>
            <a:off x="62250" y="937850"/>
            <a:ext cx="90195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E0DC"/>
                </a:solidFill>
                <a:highlight>
                  <a:srgbClr val="EFEFEF"/>
                </a:highlight>
              </a:rPr>
              <a:t># The stated reasons, in members' own words. `reason` is free text with no</a:t>
            </a:r>
            <a:endParaRPr sz="1200">
              <a:solidFill>
                <a:srgbClr val="00E0DC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E0DC"/>
                </a:solidFill>
                <a:highlight>
                  <a:srgbClr val="EFEFEF"/>
                </a:highlight>
              </a:rPr>
              <a:t># canonical form - `adhesion issues` (47) and `adhesive issues` (6) are separate</a:t>
            </a:r>
            <a:endParaRPr sz="1200">
              <a:solidFill>
                <a:srgbClr val="00E0DC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E0DC"/>
                </a:solidFill>
                <a:highlight>
                  <a:srgbClr val="EFEFEF"/>
                </a:highlight>
              </a:rPr>
              <a:t># strings - so it is bucketed by regex rather than grouped. The patterns were</a:t>
            </a:r>
            <a:endParaRPr sz="1200">
              <a:solidFill>
                <a:srgbClr val="00E0DC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E0DC"/>
                </a:solidFill>
                <a:highlight>
                  <a:srgbClr val="EFEFEF"/>
                </a:highlight>
              </a:rPr>
              <a:t># widened against the actual unmatched values: efficacy is written as "breaking</a:t>
            </a:r>
            <a:endParaRPr sz="1200">
              <a:solidFill>
                <a:srgbClr val="00E0DC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E0DC"/>
                </a:solidFill>
                <a:highlight>
                  <a:srgbClr val="EFEFEF"/>
                </a:highlight>
              </a:rPr>
              <a:t># through", "not responding" and "wasn't resolving", never as "not working".</a:t>
            </a:r>
            <a:endParaRPr sz="1200">
              <a:solidFill>
                <a:srgbClr val="00E0DC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E0DC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BUCKETS = </a:t>
            </a:r>
            <a:r>
              <a:rPr lang="en" sz="1300">
                <a:solidFill>
                  <a:srgbClr val="CCCCCC"/>
                </a:solidFill>
              </a:rPr>
              <a:t>{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</a:t>
            </a:r>
            <a:r>
              <a:rPr lang="en" sz="1300">
                <a:solidFill>
                  <a:srgbClr val="CC0000"/>
                </a:solidFill>
              </a:rPr>
              <a:t> 'side effects</a:t>
            </a:r>
            <a:r>
              <a:rPr lang="en" sz="1300"/>
              <a:t>': (</a:t>
            </a:r>
            <a:r>
              <a:rPr lang="en" sz="1300">
                <a:solidFill>
                  <a:srgbClr val="CC0000"/>
                </a:solidFill>
              </a:rPr>
              <a:t>r'tender|bleed|migraine|headache|nausea|bloat|irritat|rash|mood'</a:t>
            </a:r>
            <a:endParaRPr sz="13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</a:rPr>
              <a:t>                     r'|adverse|side effect|ache|hair</a:t>
            </a:r>
            <a:r>
              <a:rPr lang="en" sz="1300"/>
              <a:t>'),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</a:t>
            </a:r>
            <a:r>
              <a:rPr lang="en" sz="1300">
                <a:solidFill>
                  <a:srgbClr val="CC0000"/>
                </a:solidFill>
              </a:rPr>
              <a:t>'adhesion / it fell off'</a:t>
            </a:r>
            <a:r>
              <a:rPr lang="en" sz="1300"/>
              <a:t>:</a:t>
            </a:r>
            <a:r>
              <a:rPr lang="en" sz="1300">
                <a:solidFill>
                  <a:srgbClr val="CC0000"/>
                </a:solidFill>
              </a:rPr>
              <a:t> r'adhes|stick|peel|fall|fell off|came off|applicator'</a:t>
            </a:r>
            <a:r>
              <a:rPr lang="en" sz="1300"/>
              <a:t>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</a:t>
            </a:r>
            <a:r>
              <a:rPr lang="en" sz="1300">
                <a:solidFill>
                  <a:srgbClr val="CC0000"/>
                </a:solidFill>
              </a:rPr>
              <a:t> 'dose / absorption / route'</a:t>
            </a:r>
            <a:r>
              <a:rPr lang="en" sz="1300"/>
              <a:t>: (</a:t>
            </a:r>
            <a:r>
              <a:rPr lang="en" sz="1300">
                <a:solidFill>
                  <a:srgbClr val="CC0000"/>
                </a:solidFill>
              </a:rPr>
              <a:t>r'dose|absor|level|consistenc|strength|titrat|route'</a:t>
            </a:r>
            <a:endParaRPr sz="13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</a:rPr>
              <a:t>                                  r'|transdermal|systemic|peak|trough|hepatic'</a:t>
            </a:r>
            <a:r>
              <a:rPr lang="en" sz="1300"/>
              <a:t>),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</a:t>
            </a:r>
            <a:r>
              <a:rPr lang="en" sz="1300">
                <a:solidFill>
                  <a:srgbClr val="CC0000"/>
                </a:solidFill>
              </a:rPr>
              <a:t> 'clinician advice'</a:t>
            </a:r>
            <a:r>
              <a:rPr lang="en" sz="1300"/>
              <a:t>: </a:t>
            </a:r>
            <a:r>
              <a:rPr lang="en" sz="1300">
                <a:solidFill>
                  <a:srgbClr val="CC0000"/>
                </a:solidFill>
              </a:rPr>
              <a:t>r'doctor|gp|specialist|consultant|provider|nams|advice'</a:t>
            </a:r>
            <a:r>
              <a:rPr lang="en" sz="1300"/>
              <a:t>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</a:t>
            </a:r>
            <a:r>
              <a:rPr lang="en" sz="1300">
                <a:solidFill>
                  <a:srgbClr val="CC0000"/>
                </a:solidFill>
              </a:rPr>
              <a:t> 'cost / access</a:t>
            </a:r>
            <a:r>
              <a:rPr lang="en" sz="1300"/>
              <a:t>': </a:t>
            </a:r>
            <a:r>
              <a:rPr lang="en" sz="1300">
                <a:solidFill>
                  <a:srgbClr val="CC0000"/>
                </a:solidFill>
              </a:rPr>
              <a:t>r'cost|price|insur|cover|afford|supply|shortage</a:t>
            </a:r>
            <a:r>
              <a:rPr lang="en" sz="1300"/>
              <a:t>',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</a:t>
            </a:r>
            <a:r>
              <a:rPr lang="en" sz="1300">
                <a:solidFill>
                  <a:srgbClr val="CC0000"/>
                </a:solidFill>
              </a:rPr>
              <a:t>'symptoms not controlled'</a:t>
            </a:r>
            <a:r>
              <a:rPr lang="en" sz="1300"/>
              <a:t>: (</a:t>
            </a:r>
            <a:r>
              <a:rPr lang="en" sz="1300">
                <a:solidFill>
                  <a:srgbClr val="CC0000"/>
                </a:solidFill>
              </a:rPr>
              <a:t>r'not work|didn.t work|wasn.t work|no relief|ineffect'</a:t>
            </a:r>
            <a:endParaRPr sz="13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</a:rPr>
              <a:t>                                r'|stopped work|nothing|breaking through|not respond'</a:t>
            </a:r>
            <a:endParaRPr sz="13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</a:rPr>
              <a:t>                                r'|wasn.t respond|weren.t resolv|wasn.t resolv|got worse'</a:t>
            </a:r>
            <a:endParaRPr sz="13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</a:rPr>
              <a:t>                                r'|unsustainable|wasn.t right'</a:t>
            </a:r>
            <a:r>
              <a:rPr lang="en" sz="1300"/>
              <a:t>),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</a:rPr>
              <a:t>}</a:t>
            </a:r>
            <a:endParaRPr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MHT Menopause Patient Community?</a:t>
            </a:r>
            <a:endParaRPr/>
          </a:p>
        </p:txBody>
      </p:sp>
      <p:pic>
        <p:nvPicPr>
          <p:cNvPr id="218" name="Google Shape;2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5800"/>
            <a:ext cx="8839197" cy="3029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844700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MHT Menopause Patient Community?</a:t>
            </a:r>
            <a:endParaRPr/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5800"/>
            <a:ext cx="8839200" cy="2952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8" title="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113" y="152400"/>
            <a:ext cx="7367772" cy="483869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9" title="Screenshot 2026-09-23 at 4.16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57383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11700" y="13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and Findings</a:t>
            </a:r>
            <a:endParaRPr/>
          </a:p>
        </p:txBody>
      </p:sp>
      <p:pic>
        <p:nvPicPr>
          <p:cNvPr id="241" name="Google Shape;24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400" y="734400"/>
            <a:ext cx="6402624" cy="4306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