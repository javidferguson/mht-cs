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y="5143500" cx="9144000"/>
  <p:notesSz cx="6858000" cy="9144000"/>
  <p:embeddedFontLst>
    <p:embeddedFont>
      <p:font typeface="PT Sans Narrow"/>
      <p:regular r:id="rId33"/>
      <p:bold r:id="rId34"/>
    </p:embeddedFont>
    <p:embeddedFont>
      <p:font typeface="Open Sans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font" Target="fonts/PTSansNarrow-regular.fntdata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font" Target="fonts/OpenSans-regular.fntdata"/><Relationship Id="rId12" Type="http://schemas.openxmlformats.org/officeDocument/2006/relationships/slide" Target="slides/slide7.xml"/><Relationship Id="rId34" Type="http://schemas.openxmlformats.org/officeDocument/2006/relationships/font" Target="fonts/PTSansNarrow-bold.fntdata"/><Relationship Id="rId15" Type="http://schemas.openxmlformats.org/officeDocument/2006/relationships/slide" Target="slides/slide10.xml"/><Relationship Id="rId37" Type="http://schemas.openxmlformats.org/officeDocument/2006/relationships/font" Target="fonts/OpenSans-italic.fntdata"/><Relationship Id="rId14" Type="http://schemas.openxmlformats.org/officeDocument/2006/relationships/slide" Target="slides/slide9.xml"/><Relationship Id="rId36" Type="http://schemas.openxmlformats.org/officeDocument/2006/relationships/font" Target="fonts/OpenSans-bold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38" Type="http://schemas.openxmlformats.org/officeDocument/2006/relationships/font" Target="fonts/OpenSans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be8c1ba0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be8c1ba0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be8c1ba05_0_6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fbe8c1ba05_0_6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e8c1ba05_0_6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e8c1ba05_0_6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fbe8c1ba05_0_14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fbe8c1ba05_0_14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fbe8c1ba05_0_14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fbe8c1ba05_0_14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be8c1ba05_0_14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fbe8c1ba05_0_14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be8c1ba05_0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fbe8c1ba05_0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fbe8c1ba05_0_7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fbe8c1ba05_0_7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e8c1ba05_0_7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e8c1ba05_0_7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e8c1ba05_0_7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e8c1ba05_0_7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fbe8c1ba05_0_7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fbe8c1ba05_0_7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be8c1ba05_0_7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fbe8c1ba05_0_7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be8c1ba05_0_8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fbe8c1ba05_0_8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be8c1ba05_0_8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fbe8c1ba05_0_8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be8c1ba05_0_8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fbe8c1ba05_0_8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fbe8c1ba05_0_8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fbe8c1ba05_0_8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fbe8c1ba05_0_8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fbe8c1ba05_0_8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fbe8c1ba05_0_6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fbe8c1ba05_0_6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fbe8c1ba05_0_6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fbe8c1ba05_0_6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be8c1ba05_0_6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fbe8c1ba05_0_6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fbe8c1ba05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fbe8c1ba05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fbe8c1ba05_0_8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fbe8c1ba05_0_8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fbe8c1ba05_0_7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fbe8c1ba05_0_7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fbe8c1ba05_0_7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fbe8c1ba05_0_7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fbe8c1ba05_0_6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fbe8c1ba05_0_6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fbe8c1ba05_0_14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fbe8c1ba05_0_1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7007735" y="3176888"/>
            <a:ext cx="562200" cy="0"/>
          </a:xfrm>
          <a:prstGeom prst="straightConnector1">
            <a:avLst/>
          </a:prstGeom>
          <a:noFill/>
          <a:ln cap="flat" cmpd="sng" w="762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" name="Google Shape;11;p2"/>
          <p:cNvCxnSpPr/>
          <p:nvPr/>
        </p:nvCxnSpPr>
        <p:spPr>
          <a:xfrm>
            <a:off x="1575035" y="3158252"/>
            <a:ext cx="562200" cy="0"/>
          </a:xfrm>
          <a:prstGeom prst="straightConnector1">
            <a:avLst/>
          </a:prstGeom>
          <a:noFill/>
          <a:ln cap="flat" cmpd="sng" w="762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" name="Google Shape;12;p2"/>
          <p:cNvGrpSpPr/>
          <p:nvPr/>
        </p:nvGrpSpPr>
        <p:grpSpPr>
          <a:xfrm>
            <a:off x="1004144" y="1022025"/>
            <a:ext cx="7136668" cy="152400"/>
            <a:chOff x="1346429" y="1011300"/>
            <a:chExt cx="6452100" cy="152400"/>
          </a:xfrm>
        </p:grpSpPr>
        <p:cxnSp>
          <p:nvCxnSpPr>
            <p:cNvPr id="13" name="Google Shape;13;p2"/>
            <p:cNvCxnSpPr/>
            <p:nvPr/>
          </p:nvCxnSpPr>
          <p:spPr>
            <a:xfrm rot="10800000">
              <a:off x="1346429" y="1011300"/>
              <a:ext cx="6452100" cy="0"/>
            </a:xfrm>
            <a:prstGeom prst="straightConnector1">
              <a:avLst/>
            </a:prstGeom>
            <a:noFill/>
            <a:ln cap="flat" cmpd="sng" w="76200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" name="Google Shape;14;p2"/>
            <p:cNvCxnSpPr/>
            <p:nvPr/>
          </p:nvCxnSpPr>
          <p:spPr>
            <a:xfrm rot="10800000">
              <a:off x="1346429" y="1163700"/>
              <a:ext cx="64521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5" name="Google Shape;15;p2"/>
          <p:cNvGrpSpPr/>
          <p:nvPr/>
        </p:nvGrpSpPr>
        <p:grpSpPr>
          <a:xfrm>
            <a:off x="1004151" y="3969100"/>
            <a:ext cx="7136668" cy="152400"/>
            <a:chOff x="1346435" y="3969088"/>
            <a:chExt cx="6452100" cy="152400"/>
          </a:xfrm>
        </p:grpSpPr>
        <p:cxnSp>
          <p:nvCxnSpPr>
            <p:cNvPr id="16" name="Google Shape;16;p2"/>
            <p:cNvCxnSpPr/>
            <p:nvPr/>
          </p:nvCxnSpPr>
          <p:spPr>
            <a:xfrm>
              <a:off x="1346435" y="4121488"/>
              <a:ext cx="6452100" cy="0"/>
            </a:xfrm>
            <a:prstGeom prst="straightConnector1">
              <a:avLst/>
            </a:prstGeom>
            <a:noFill/>
            <a:ln cap="flat" cmpd="sng" w="76200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" name="Google Shape;17;p2"/>
            <p:cNvCxnSpPr/>
            <p:nvPr/>
          </p:nvCxnSpPr>
          <p:spPr>
            <a:xfrm>
              <a:off x="1346435" y="3969088"/>
              <a:ext cx="64521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8" name="Google Shape;18;p2"/>
          <p:cNvSpPr txBox="1"/>
          <p:nvPr>
            <p:ph type="ctrTitle"/>
          </p:nvPr>
        </p:nvSpPr>
        <p:spPr>
          <a:xfrm>
            <a:off x="1004150" y="1751764"/>
            <a:ext cx="7136700" cy="1022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9" name="Google Shape;19;p2"/>
          <p:cNvSpPr txBox="1"/>
          <p:nvPr>
            <p:ph idx="1" type="subTitle"/>
          </p:nvPr>
        </p:nvSpPr>
        <p:spPr>
          <a:xfrm>
            <a:off x="2137225" y="2850039"/>
            <a:ext cx="4870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-50" y="2571900"/>
            <a:ext cx="9144000" cy="25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 txBox="1"/>
          <p:nvPr>
            <p:ph type="title"/>
          </p:nvPr>
        </p:nvSpPr>
        <p:spPr>
          <a:xfrm>
            <a:off x="311700" y="814800"/>
            <a:ext cx="8571300" cy="94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4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" type="body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311700" y="1266175"/>
            <a:ext cx="39999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32400" y="1266175"/>
            <a:ext cx="39999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6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490250" y="526350"/>
            <a:ext cx="56136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4" name="Google Shape;4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" name="Google Shape;48;p9"/>
          <p:cNvSpPr txBox="1"/>
          <p:nvPr>
            <p:ph type="title"/>
          </p:nvPr>
        </p:nvSpPr>
        <p:spPr>
          <a:xfrm>
            <a:off x="265500" y="1039675"/>
            <a:ext cx="4045200" cy="167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9" name="Google Shape;49;p9"/>
          <p:cNvSpPr txBox="1"/>
          <p:nvPr>
            <p:ph idx="1" type="subTitle"/>
          </p:nvPr>
        </p:nvSpPr>
        <p:spPr>
          <a:xfrm>
            <a:off x="265500" y="27268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0" name="Google Shape;50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>
            <p:ph idx="1" type="body"/>
          </p:nvPr>
        </p:nvSpPr>
        <p:spPr>
          <a:xfrm>
            <a:off x="311700" y="4230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 Narrow"/>
              <a:buNone/>
              <a:defRPr sz="2400">
                <a:latin typeface="PT Sans Narrow"/>
                <a:ea typeface="PT Sans Narrow"/>
                <a:cs typeface="PT Sans Narrow"/>
                <a:sym typeface="PT Sans Narrow"/>
              </a:defRPr>
            </a:lvl1pPr>
          </a:lstStyle>
          <a:p/>
        </p:txBody>
      </p:sp>
      <p:sp>
        <p:nvSpPr>
          <p:cNvPr id="54" name="Google Shape;5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11"/>
          <p:cNvSpPr txBox="1"/>
          <p:nvPr>
            <p:ph hasCustomPrompt="1" type="title"/>
          </p:nvPr>
        </p:nvSpPr>
        <p:spPr>
          <a:xfrm>
            <a:off x="311700" y="1304850"/>
            <a:ext cx="85206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" name="Google Shape;58;p11"/>
          <p:cNvSpPr txBox="1"/>
          <p:nvPr>
            <p:ph idx="1" type="body"/>
          </p:nvPr>
        </p:nvSpPr>
        <p:spPr>
          <a:xfrm>
            <a:off x="311700" y="29956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9" name="Google Shape;5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trop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9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ctrTitle"/>
          </p:nvPr>
        </p:nvSpPr>
        <p:spPr>
          <a:xfrm>
            <a:off x="1004150" y="1751764"/>
            <a:ext cx="7136700" cy="1022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Bayer &amp; myHealthteam </a:t>
            </a:r>
            <a:endParaRPr/>
          </a:p>
        </p:txBody>
      </p:sp>
      <p:sp>
        <p:nvSpPr>
          <p:cNvPr id="67" name="Google Shape;67;p13"/>
          <p:cNvSpPr txBox="1"/>
          <p:nvPr>
            <p:ph idx="1" type="subTitle"/>
          </p:nvPr>
        </p:nvSpPr>
        <p:spPr>
          <a:xfrm>
            <a:off x="2137225" y="2850039"/>
            <a:ext cx="4870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MHT Menopause Community Review - </a:t>
            </a:r>
            <a:r>
              <a:rPr lang="en"/>
              <a:t>Climara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Approach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Solution Overview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Insights and Findings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Additional Considerations &amp; Next Steps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 &amp; 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Appendix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2472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Approach</a:t>
            </a:r>
            <a:endParaRPr/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923200"/>
            <a:ext cx="8520600" cy="40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Goal</a:t>
            </a:r>
            <a:r>
              <a:rPr lang="en"/>
              <a:t>: Extract</a:t>
            </a:r>
            <a:r>
              <a:rPr lang="en"/>
              <a:t> a set of analytical data products to support Climara patient community analyses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Data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2 [*.jsonl] files with ~10,000 MyHealthTeam Menopause Community Posts and Replies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~2,000 posts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~8,000 replies (*to provided parent posts)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Included data attributes: Post/Reply - body, author, unique identifier and creation date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Solution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Overview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6" title="architecture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925" y="152400"/>
            <a:ext cx="8602138" cy="4838702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type="title"/>
          </p:nvPr>
        </p:nvSpPr>
        <p:spPr>
          <a:xfrm>
            <a:off x="311700" y="2472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Approach</a:t>
            </a:r>
            <a:endParaRPr/>
          </a:p>
        </p:txBody>
      </p:sp>
      <p:sp>
        <p:nvSpPr>
          <p:cNvPr id="90" name="Google Shape;90;p17"/>
          <p:cNvSpPr txBox="1"/>
          <p:nvPr>
            <p:ph idx="1" type="body"/>
          </p:nvPr>
        </p:nvSpPr>
        <p:spPr>
          <a:xfrm>
            <a:off x="311700" y="923200"/>
            <a:ext cx="8520600" cy="40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Assumptions/Caveats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User-generated content (community forum posts) is assumed to be factual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“Climara patient” is defined as an author of a post or reply that makes a *self-reference to having taken Climara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* Identification of self-reference is done by LLM named-entity recognition prompt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“Sentiment” is categorized via LLM sentiment classifier prompt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Solution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Performance Overview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289700" y="453975"/>
            <a:ext cx="2989200" cy="40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/>
              <a:t>Guided Review Questions</a:t>
            </a:r>
            <a:endParaRPr b="1"/>
          </a:p>
        </p:txBody>
      </p:sp>
      <p:sp>
        <p:nvSpPr>
          <p:cNvPr id="96" name="Google Shape;96;p18"/>
          <p:cNvSpPr txBox="1"/>
          <p:nvPr>
            <p:ph idx="1" type="body"/>
          </p:nvPr>
        </p:nvSpPr>
        <p:spPr>
          <a:xfrm>
            <a:off x="289700" y="898725"/>
            <a:ext cx="2989200" cy="3790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500"/>
              <a:t>(?)</a:t>
            </a:r>
            <a:r>
              <a:rPr lang="en" sz="1500"/>
              <a:t> Who is the Climara patient in the community?</a:t>
            </a:r>
            <a:endParaRPr sz="15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/>
              <a:t>(?)</a:t>
            </a:r>
            <a:r>
              <a:rPr lang="en" sz="1500"/>
              <a:t> How are community members feeling about Climara?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500"/>
              <a:t>(?)</a:t>
            </a:r>
            <a:r>
              <a:rPr lang="en" sz="1500"/>
              <a:t> What other treatments are members using?</a:t>
            </a:r>
            <a:endParaRPr sz="1500"/>
          </a:p>
        </p:txBody>
      </p:sp>
      <p:pic>
        <p:nvPicPr>
          <p:cNvPr id="97" name="Google Shape;97;p18" title="measured-table.png"/>
          <p:cNvPicPr preferRelativeResize="0"/>
          <p:nvPr/>
        </p:nvPicPr>
        <p:blipFill rotWithShape="1">
          <a:blip r:embed="rId3">
            <a:alphaModFix/>
          </a:blip>
          <a:srcRect b="1895" l="0" r="0" t="1895"/>
          <a:stretch/>
        </p:blipFill>
        <p:spPr>
          <a:xfrm>
            <a:off x="3202275" y="550175"/>
            <a:ext cx="5834926" cy="4139351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03" name="Google Shape;103;p19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is the MHT Menopause Patient Community?</a:t>
            </a:r>
            <a:endParaRPr/>
          </a:p>
        </p:txBody>
      </p:sp>
      <p:pic>
        <p:nvPicPr>
          <p:cNvPr id="104" name="Google Shape;104;p19" title="Screenshot 2026-09-23 at 11.38.0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675" y="1635050"/>
            <a:ext cx="4548900" cy="28523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05" name="Google Shape;105;p19" title="Screenshot 2026-09-23 at 11.41.46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2425" y="1292287"/>
            <a:ext cx="2754925" cy="35378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11" name="Google Shape;111;p20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is the MHT Menopause Patient Community?</a:t>
            </a:r>
            <a:endParaRPr/>
          </a:p>
        </p:txBody>
      </p:sp>
      <p:pic>
        <p:nvPicPr>
          <p:cNvPr id="112" name="Google Shape;112;p20" title="mht-m-comm-tx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85800"/>
            <a:ext cx="8839200" cy="2952293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is the MHT Menopause Patient Community?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85800"/>
            <a:ext cx="8839203" cy="306254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is the MHT Menopause - Climara Patient Community?</a:t>
            </a:r>
            <a:endParaRPr/>
          </a:p>
        </p:txBody>
      </p:sp>
      <p:pic>
        <p:nvPicPr>
          <p:cNvPr id="126" name="Google Shape;12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38" y="1302600"/>
            <a:ext cx="4504401" cy="37236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27" name="Google Shape;127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20438" y="1302600"/>
            <a:ext cx="4453126" cy="37236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33" name="Google Shape;133;p23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does the MHT Climara Patient Community feel about the treatment?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874125"/>
            <a:ext cx="8572500" cy="16573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40" name="Google Shape;140;p24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does the MHT Climara Patient Community feel about the treatment?</a:t>
            </a:r>
            <a:endParaRPr/>
          </a:p>
        </p:txBody>
      </p:sp>
      <p:pic>
        <p:nvPicPr>
          <p:cNvPr id="141" name="Google Shape;141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643950"/>
            <a:ext cx="4572001" cy="25632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42" name="Google Shape;142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45275" y="1643950"/>
            <a:ext cx="4498725" cy="25632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5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pic>
        <p:nvPicPr>
          <p:cNvPr id="148" name="Google Shape;148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7450" y="742575"/>
            <a:ext cx="5487876" cy="41532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6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54" name="Google Shape;154;p26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treatments do the</a:t>
            </a:r>
            <a:r>
              <a:rPr lang="en"/>
              <a:t> MHT Patient Community switch </a:t>
            </a:r>
            <a:r>
              <a:rPr i="1" lang="en"/>
              <a:t>TO</a:t>
            </a:r>
            <a:r>
              <a:rPr lang="en"/>
              <a:t> and </a:t>
            </a:r>
            <a:r>
              <a:rPr i="1" lang="en"/>
              <a:t>FROM</a:t>
            </a:r>
            <a:r>
              <a:rPr lang="en"/>
              <a:t>?</a:t>
            </a:r>
            <a:endParaRPr/>
          </a:p>
        </p:txBody>
      </p:sp>
      <p:pic>
        <p:nvPicPr>
          <p:cNvPr id="155" name="Google Shape;155;p26" title="Screenshot 2026-09-23 at 1.10.2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2450" y="1690950"/>
            <a:ext cx="8039100" cy="2476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7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61" name="Google Shape;161;p27"/>
          <p:cNvSpPr txBox="1"/>
          <p:nvPr>
            <p:ph idx="1" type="body"/>
          </p:nvPr>
        </p:nvSpPr>
        <p:spPr>
          <a:xfrm>
            <a:off x="311700" y="8447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treatments do the MHT Climara Patient Community switch </a:t>
            </a:r>
            <a:r>
              <a:rPr i="1" lang="en"/>
              <a:t>TO</a:t>
            </a:r>
            <a:r>
              <a:rPr lang="en"/>
              <a:t> and </a:t>
            </a:r>
            <a:r>
              <a:rPr i="1" lang="en"/>
              <a:t>FROM</a:t>
            </a:r>
            <a:r>
              <a:rPr lang="en"/>
              <a:t>?</a:t>
            </a:r>
            <a:endParaRPr/>
          </a:p>
        </p:txBody>
      </p:sp>
      <p:pic>
        <p:nvPicPr>
          <p:cNvPr id="162" name="Google Shape;162;p27" title="switching-into-and-out-of-climara-22-ev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825" y="1619250"/>
            <a:ext cx="8896348" cy="33630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8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690825"/>
            <a:ext cx="8520600" cy="6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treatments do the MHT Climara Patient Community switch </a:t>
            </a:r>
            <a:r>
              <a:rPr i="1" lang="en"/>
              <a:t>TO</a:t>
            </a:r>
            <a:r>
              <a:rPr lang="en"/>
              <a:t> and </a:t>
            </a:r>
            <a:r>
              <a:rPr i="1" lang="en"/>
              <a:t>FROM</a:t>
            </a:r>
            <a:r>
              <a:rPr lang="en"/>
              <a:t>?</a:t>
            </a:r>
            <a:endParaRPr/>
          </a:p>
        </p:txBody>
      </p:sp>
      <p:pic>
        <p:nvPicPr>
          <p:cNvPr id="169" name="Google Shape;169;p28" title="Screenshot 2026-09-23 at 1.30.08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9400" y="1392125"/>
            <a:ext cx="4045200" cy="35131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9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75" name="Google Shape;175;p29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 does the MHT Menopause</a:t>
            </a:r>
            <a:r>
              <a:rPr lang="en"/>
              <a:t> </a:t>
            </a:r>
            <a:r>
              <a:rPr lang="en"/>
              <a:t>Patient Community switch treatments?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6475" y="1333400"/>
            <a:ext cx="5311060" cy="35052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0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pic>
        <p:nvPicPr>
          <p:cNvPr id="182" name="Google Shape;182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1400" y="734400"/>
            <a:ext cx="6402624" cy="43065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1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Additional Considerations &amp; Next Steps</a:t>
            </a:r>
            <a:endParaRPr/>
          </a:p>
        </p:txBody>
      </p:sp>
      <p:sp>
        <p:nvSpPr>
          <p:cNvPr id="188" name="Google Shape;188;p31"/>
          <p:cNvSpPr txBox="1"/>
          <p:nvPr>
            <p:ph idx="1" type="body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Scaling for Production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Keep as LLM/agent-based → vLLM on cloud compute ⇒ </a:t>
            </a:r>
            <a:r>
              <a:rPr lang="en">
                <a:highlight>
                  <a:srgbClr val="FFFF00"/>
                </a:highlight>
              </a:rPr>
              <a:t>37 million posts for &lt; ~$5,000</a:t>
            </a:r>
            <a:endParaRPr>
              <a:highlight>
                <a:srgbClr val="FFFF00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Validation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More human review if given more time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“lexicon” configuration vs. MHT Medical Ontology Reference database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“</a:t>
            </a:r>
            <a:r>
              <a:rPr lang="en"/>
              <a:t>d</a:t>
            </a:r>
            <a:r>
              <a:rPr lang="en"/>
              <a:t>omain” configuration vs. MHT internal knowledge reference(s)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Analytical Data Products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Switch Events - Refine prompt; more quality measures/tests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2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 &amp; A</a:t>
            </a:r>
            <a:endParaRPr/>
          </a:p>
        </p:txBody>
      </p:sp>
      <p:sp>
        <p:nvSpPr>
          <p:cNvPr id="194" name="Google Shape;194;p32"/>
          <p:cNvSpPr txBox="1"/>
          <p:nvPr>
            <p:ph idx="1" type="body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Thank you for your time! What </a:t>
            </a:r>
            <a:r>
              <a:rPr lang="en"/>
              <a:t>questions</a:t>
            </a:r>
            <a:r>
              <a:rPr lang="en"/>
              <a:t> do we have?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3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APPENDIX</a:t>
            </a:r>
            <a:endParaRPr/>
          </a:p>
        </p:txBody>
      </p:sp>
      <p:sp>
        <p:nvSpPr>
          <p:cNvPr id="200" name="Google Shape;200;p33"/>
          <p:cNvSpPr txBox="1"/>
          <p:nvPr>
            <p:ph idx="1" type="body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4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Sentiment - Member Comments</a:t>
            </a:r>
            <a:endParaRPr/>
          </a:p>
        </p:txBody>
      </p:sp>
      <p:sp>
        <p:nvSpPr>
          <p:cNvPr id="206" name="Google Shape;206;p34"/>
          <p:cNvSpPr txBox="1"/>
          <p:nvPr/>
        </p:nvSpPr>
        <p:spPr>
          <a:xfrm>
            <a:off x="0" y="1062400"/>
            <a:ext cx="9078000" cy="40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=== POSITIVE ===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· …I'm not going to offer anything except — yes. This is grief and it's real and it deserves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to be called what it is. I'm on the Climara patch now and it's helped the rage a bit but it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hasn't fixed the feeling of being a stranger to myself, so I know that part isn't just…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· I made exactly this transition about two years ago — Vagifem plus added Climara patch, and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then Prometrium. First month: breast tenderness yes, quite noticeable, lasted roughly six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weeks for me. Bloating was a…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· …me. Also did the iron supplementing cause any stomach issues? I'm already anxious about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adding anything new on top of the Climara. Really glad you found something that works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though, 1-2 nights vs 5-6 is massive.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=== NEGATIVE ===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· temple hair loss getting worse even on the patch — anyone else?? okay so i've been on the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Climara patch for almost 8 months now and i genuinely thought it would help slow down the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hair loss at my temples but honestly?? it seems like…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· …exhausting, especially doing detailed design work through daily headaches 💛 I stopped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briefly about two years before starting my Climara patch and honestly the muscle aches were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the thing that surprised me most — I didn't even realize HRT had been helping with them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until…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· …good evidence for meibomian gland dysfunction. I'm filing this away because my allergies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have been flaring since starting the Climara patch and my eyes are part of it.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Switch Events - Member Comments</a:t>
            </a:r>
            <a:endParaRPr/>
          </a:p>
        </p:txBody>
      </p:sp>
      <p:sp>
        <p:nvSpPr>
          <p:cNvPr id="212" name="Google Shape;212;p35"/>
          <p:cNvSpPr txBox="1"/>
          <p:nvPr/>
        </p:nvSpPr>
        <p:spPr>
          <a:xfrm>
            <a:off x="0" y="1062400"/>
            <a:ext cx="9078000" cy="39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22 of 338 switch events met the selection criteria; showing 5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SELECTION CRITERIA: Must carry a first-person movement construction, both endpoints must resolve to named products, and the surrounding text must not attribute the move to someone else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1"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vagifem  →  imvexxy 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[applicator faff]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“Switched from Vagifem to Imvexxy a while back mostly because of applicator faff tbh”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1"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activelle  →  climara 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[reduce first-pass hepatic effects]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“switching from oral to transdermal estrogen”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1"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estradot  →  estradiol gel generic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[thinking transdermal might be gentler]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“Switched to estrogen gel thinking transdermal might be gentler.”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prometrium  →  mirena</a:t>
            </a:r>
            <a:endParaRPr b="1"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“switching to a Mirena IUD for the progestogen component”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1"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vagifem  →  intrarosa 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[anecdotally the urgency did settle a bit more]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“Switched to Intrarosa when my compounding clinic suggested it”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User “switch event” - Reason Text Mapping</a:t>
            </a:r>
            <a:endParaRPr/>
          </a:p>
        </p:txBody>
      </p:sp>
      <p:sp>
        <p:nvSpPr>
          <p:cNvPr id="218" name="Google Shape;218;p36"/>
          <p:cNvSpPr txBox="1"/>
          <p:nvPr/>
        </p:nvSpPr>
        <p:spPr>
          <a:xfrm>
            <a:off x="62250" y="937850"/>
            <a:ext cx="9019500" cy="38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E0DC"/>
                </a:solidFill>
                <a:highlight>
                  <a:srgbClr val="EFEFEF"/>
                </a:highlight>
              </a:rPr>
              <a:t># The stated reasons, in members' own words. `reason` is free text with no</a:t>
            </a:r>
            <a:endParaRPr sz="1200">
              <a:solidFill>
                <a:srgbClr val="00E0DC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E0DC"/>
                </a:solidFill>
                <a:highlight>
                  <a:srgbClr val="EFEFEF"/>
                </a:highlight>
              </a:rPr>
              <a:t># canonical form - `adhesion issues` (47) and `adhesive issues` (6) are separate</a:t>
            </a:r>
            <a:endParaRPr sz="1200">
              <a:solidFill>
                <a:srgbClr val="00E0DC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E0DC"/>
                </a:solidFill>
                <a:highlight>
                  <a:srgbClr val="EFEFEF"/>
                </a:highlight>
              </a:rPr>
              <a:t># strings - so it is bucketed by regex rather than grouped. The patterns were</a:t>
            </a:r>
            <a:endParaRPr sz="1200">
              <a:solidFill>
                <a:srgbClr val="00E0DC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E0DC"/>
                </a:solidFill>
                <a:highlight>
                  <a:srgbClr val="EFEFEF"/>
                </a:highlight>
              </a:rPr>
              <a:t># widened against the actual unmatched values: efficacy is written as "breaking</a:t>
            </a:r>
            <a:endParaRPr sz="1200">
              <a:solidFill>
                <a:srgbClr val="00E0DC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E0DC"/>
                </a:solidFill>
                <a:highlight>
                  <a:srgbClr val="EFEFEF"/>
                </a:highlight>
              </a:rPr>
              <a:t># through", "not responding" and "wasn't resolving", never as "not working".</a:t>
            </a:r>
            <a:endParaRPr sz="1200">
              <a:solidFill>
                <a:srgbClr val="00E0DC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00E0DC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BUCKETS = </a:t>
            </a:r>
            <a:r>
              <a:rPr lang="en" sz="1300">
                <a:solidFill>
                  <a:srgbClr val="CCCCCC"/>
                </a:solidFill>
              </a:rPr>
              <a:t>{</a:t>
            </a:r>
            <a:endParaRPr sz="1300">
              <a:solidFill>
                <a:srgbClr val="CCCCCC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   </a:t>
            </a:r>
            <a:r>
              <a:rPr lang="en" sz="1300">
                <a:solidFill>
                  <a:srgbClr val="CC0000"/>
                </a:solidFill>
              </a:rPr>
              <a:t> 'side effects</a:t>
            </a:r>
            <a:r>
              <a:rPr lang="en" sz="1300"/>
              <a:t>': (</a:t>
            </a:r>
            <a:r>
              <a:rPr lang="en" sz="1300">
                <a:solidFill>
                  <a:srgbClr val="CC0000"/>
                </a:solidFill>
              </a:rPr>
              <a:t>r'tender|bleed|migraine|headache|nausea|bloat|irritat|rash|mood'</a:t>
            </a:r>
            <a:endParaRPr sz="1300">
              <a:solidFill>
                <a:srgbClr val="CC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0000"/>
                </a:solidFill>
              </a:rPr>
              <a:t>                     r'|adverse|side effect|ache|hair</a:t>
            </a:r>
            <a:r>
              <a:rPr lang="en" sz="1300"/>
              <a:t>'),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    </a:t>
            </a:r>
            <a:r>
              <a:rPr lang="en" sz="1300">
                <a:solidFill>
                  <a:srgbClr val="CC0000"/>
                </a:solidFill>
              </a:rPr>
              <a:t>'adhesion / it fell off'</a:t>
            </a:r>
            <a:r>
              <a:rPr lang="en" sz="1300"/>
              <a:t>:</a:t>
            </a:r>
            <a:r>
              <a:rPr lang="en" sz="1300">
                <a:solidFill>
                  <a:srgbClr val="CC0000"/>
                </a:solidFill>
              </a:rPr>
              <a:t> r'adhes|stick|peel|fall|fell off|came off|applicator'</a:t>
            </a:r>
            <a:r>
              <a:rPr lang="en" sz="1300"/>
              <a:t>,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   </a:t>
            </a:r>
            <a:r>
              <a:rPr lang="en" sz="1300">
                <a:solidFill>
                  <a:srgbClr val="CC0000"/>
                </a:solidFill>
              </a:rPr>
              <a:t> 'dose / absorption / route'</a:t>
            </a:r>
            <a:r>
              <a:rPr lang="en" sz="1300"/>
              <a:t>: (</a:t>
            </a:r>
            <a:r>
              <a:rPr lang="en" sz="1300">
                <a:solidFill>
                  <a:srgbClr val="CC0000"/>
                </a:solidFill>
              </a:rPr>
              <a:t>r'dose|absor|level|consistenc|strength|titrat|route'</a:t>
            </a:r>
            <a:endParaRPr sz="1300">
              <a:solidFill>
                <a:srgbClr val="CC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0000"/>
                </a:solidFill>
              </a:rPr>
              <a:t>                                  r'|transdermal|systemic|peak|trough|hepatic'</a:t>
            </a:r>
            <a:r>
              <a:rPr lang="en" sz="1300"/>
              <a:t>),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   </a:t>
            </a:r>
            <a:r>
              <a:rPr lang="en" sz="1300">
                <a:solidFill>
                  <a:srgbClr val="CC0000"/>
                </a:solidFill>
              </a:rPr>
              <a:t> 'clinician advice'</a:t>
            </a:r>
            <a:r>
              <a:rPr lang="en" sz="1300"/>
              <a:t>: </a:t>
            </a:r>
            <a:r>
              <a:rPr lang="en" sz="1300">
                <a:solidFill>
                  <a:srgbClr val="CC0000"/>
                </a:solidFill>
              </a:rPr>
              <a:t>r'doctor|gp|specialist|consultant|provider|nams|advice'</a:t>
            </a:r>
            <a:r>
              <a:rPr lang="en" sz="1300"/>
              <a:t>,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   </a:t>
            </a:r>
            <a:r>
              <a:rPr lang="en" sz="1300">
                <a:solidFill>
                  <a:srgbClr val="CC0000"/>
                </a:solidFill>
              </a:rPr>
              <a:t> 'cost / access</a:t>
            </a:r>
            <a:r>
              <a:rPr lang="en" sz="1300"/>
              <a:t>': </a:t>
            </a:r>
            <a:r>
              <a:rPr lang="en" sz="1300">
                <a:solidFill>
                  <a:srgbClr val="CC0000"/>
                </a:solidFill>
              </a:rPr>
              <a:t>r'cost|price|insur|cover|afford|supply|shortage</a:t>
            </a:r>
            <a:r>
              <a:rPr lang="en" sz="1300"/>
              <a:t>',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    </a:t>
            </a:r>
            <a:r>
              <a:rPr lang="en" sz="1300">
                <a:solidFill>
                  <a:srgbClr val="CC0000"/>
                </a:solidFill>
              </a:rPr>
              <a:t>'symptoms not controlled'</a:t>
            </a:r>
            <a:r>
              <a:rPr lang="en" sz="1300"/>
              <a:t>: (</a:t>
            </a:r>
            <a:r>
              <a:rPr lang="en" sz="1300">
                <a:solidFill>
                  <a:srgbClr val="CC0000"/>
                </a:solidFill>
              </a:rPr>
              <a:t>r'not work|didn.t work|wasn.t work|no relief|ineffect'</a:t>
            </a:r>
            <a:endParaRPr sz="1300">
              <a:solidFill>
                <a:srgbClr val="CC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0000"/>
                </a:solidFill>
              </a:rPr>
              <a:t>                                r'|stopped work|nothing|breaking through|not respond'</a:t>
            </a:r>
            <a:endParaRPr sz="1300">
              <a:solidFill>
                <a:srgbClr val="CC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0000"/>
                </a:solidFill>
              </a:rPr>
              <a:t>                                r'|wasn.t respond|weren.t resolv|wasn.t resolv|got worse'</a:t>
            </a:r>
            <a:endParaRPr sz="1300">
              <a:solidFill>
                <a:srgbClr val="CC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0000"/>
                </a:solidFill>
              </a:rPr>
              <a:t>                                r'|unsustainable|wasn.t right'</a:t>
            </a:r>
            <a:r>
              <a:rPr lang="en" sz="1300"/>
              <a:t>),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B7B7B7"/>
                </a:solidFill>
              </a:rPr>
              <a:t>}</a:t>
            </a:r>
            <a:endParaRPr sz="13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7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224" name="Google Shape;224;p37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is the MHT Menopause Patient Community?</a:t>
            </a:r>
            <a:endParaRPr/>
          </a:p>
        </p:txBody>
      </p:sp>
      <p:pic>
        <p:nvPicPr>
          <p:cNvPr id="225" name="Google Shape;22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85800"/>
            <a:ext cx="8839197" cy="30290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8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231" name="Google Shape;231;p38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is the MHT Menopause Patient Community?</a:t>
            </a:r>
            <a:endParaRPr/>
          </a:p>
        </p:txBody>
      </p:sp>
      <p:pic>
        <p:nvPicPr>
          <p:cNvPr id="232" name="Google Shape;232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85800"/>
            <a:ext cx="8839200" cy="29522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9" title="accurac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8113" y="152400"/>
            <a:ext cx="7367772" cy="4838698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ropic">
  <a:themeElements>
    <a:clrScheme name="Tropic">
      <a:dk1>
        <a:srgbClr val="A1E8D9"/>
      </a:dk1>
      <a:lt1>
        <a:srgbClr val="FFFFFF"/>
      </a:lt1>
      <a:dk2>
        <a:srgbClr val="695D46"/>
      </a:dk2>
      <a:lt2>
        <a:srgbClr val="B3A77D"/>
      </a:lt2>
      <a:accent1>
        <a:srgbClr val="EF6C00"/>
      </a:accent1>
      <a:accent2>
        <a:srgbClr val="CE93D8"/>
      </a:accent2>
      <a:accent3>
        <a:srgbClr val="4DB6AC"/>
      </a:accent3>
      <a:accent4>
        <a:srgbClr val="FF9800"/>
      </a:accent4>
      <a:accent5>
        <a:srgbClr val="009668"/>
      </a:accent5>
      <a:accent6>
        <a:srgbClr val="EEFF41"/>
      </a:accent6>
      <a:hlink>
        <a:srgbClr val="009668"/>
      </a:hlink>
      <a:folHlink>
        <a:srgbClr val="00966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